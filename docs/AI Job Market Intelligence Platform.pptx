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4b34bb3-1c41-a1c2-6cbf-89c4a465f6b7}">
          <p14:sldIdLst>
            <p14:sldId id="256"/>
            <p14:sldId id="257"/>
          </p14:sldIdLst>
        </p14:section>
        <p14:section name="Pipeline" id="{0f34504e-c2e5-7b91-f0c3-e988646d24d8}">
          <p14:sldIdLst>
            <p14:sldId id="258"/>
            <p14:sldId id="259"/>
            <p14:sldId id="260"/>
          </p14:sldIdLst>
        </p14:section>
        <p14:section name="Insights" id="{a20197b2-1c97-57dc-8346-7a010c571cc6}">
          <p14:sldIdLst>
            <p14:sldId id="261"/>
            <p14:sldId id="262"/>
          </p14:sldIdLst>
        </p14:section>
        <p14:section name="Platform" id="{f50eb042-c1b5-b398-157d-f5718e1b8f48}">
          <p14:sldIdLst>
            <p14:sldId id="263"/>
            <p14:sldId id="264"/>
          </p14:sldIdLst>
        </p14:section>
        <p14:section name="Modeling" id="{69cc414b-2eb3-c48d-2277-503a8d0475a8}">
          <p14:sldIdLst>
            <p14:sldId id="265"/>
            <p14:sldId id="266"/>
            <p14:sldId id="267"/>
          </p14:sldIdLst>
        </p14:section>
        <p14:section name="Wrap-up" id="{ecd3a663-0362-a90f-bebb-c33d95f1a49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Machine Learning</c:v>
                  </c:pt>
                  <c:pt idx="1">
                    <c:v>Azure</c:v>
                  </c:pt>
                  <c:pt idx="2">
                    <c:v>Python</c:v>
                  </c:pt>
                  <c:pt idx="3">
                    <c:v>AWS</c:v>
                  </c:pt>
                  <c:pt idx="4">
                    <c:v>React</c:v>
                  </c:pt>
                  <c:pt idx="5">
                    <c:v>SQL</c:v>
                  </c:pt>
                  <c:pt idx="6">
                    <c:v>Java</c:v>
                  </c:pt>
                  <c:pt idx="7">
                    <c:v>Agile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170</c:v>
                </c:pt>
                <c:pt idx="1">
                  <c:v>148</c:v>
                </c:pt>
                <c:pt idx="2">
                  <c:v>137</c:v>
                </c:pt>
                <c:pt idx="3">
                  <c:v>125</c:v>
                </c:pt>
                <c:pt idx="4">
                  <c:v>85</c:v>
                </c:pt>
                <c:pt idx="5">
                  <c:v>82</c:v>
                </c:pt>
                <c:pt idx="6">
                  <c:v>74</c:v>
                </c:pt>
                <c:pt idx="7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£0,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GCP</c:v>
                  </c:pt>
                  <c:pt idx="1">
                    <c:v>Kubernetes</c:v>
                  </c:pt>
                  <c:pt idx="2">
                    <c:v>Python</c:v>
                  </c:pt>
                  <c:pt idx="3">
                    <c:v>React</c:v>
                  </c:pt>
                  <c:pt idx="4">
                    <c:v>AWS</c:v>
                  </c:pt>
                  <c:pt idx="5">
                    <c:v>ETL</c:v>
                  </c:pt>
                  <c:pt idx="6">
                    <c:v>Java</c:v>
                  </c:pt>
                  <c:pt idx="7">
                    <c:v>Machine Learning</c:v>
                  </c:pt>
                  <c:pt idx="8">
                    <c:v>Azure</c:v>
                  </c:pt>
                  <c:pt idx="9">
                    <c:v>Agile</c:v>
                  </c:pt>
                  <c:pt idx="10">
                    <c:v>Docker</c:v>
                  </c:pt>
                  <c:pt idx="11">
                    <c:v>SQL</c:v>
                  </c:pt>
                  <c:pt idx="12">
                    <c:v>Power BI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83438</c:v>
                </c:pt>
                <c:pt idx="1">
                  <c:v>77371</c:v>
                </c:pt>
                <c:pt idx="2">
                  <c:v>75859</c:v>
                </c:pt>
                <c:pt idx="3">
                  <c:v>75786</c:v>
                </c:pt>
                <c:pt idx="4">
                  <c:v>75362</c:v>
                </c:pt>
                <c:pt idx="5">
                  <c:v>73342</c:v>
                </c:pt>
                <c:pt idx="6">
                  <c:v>72457</c:v>
                </c:pt>
                <c:pt idx="7">
                  <c:v>71149</c:v>
                </c:pt>
                <c:pt idx="8">
                  <c:v>70999</c:v>
                </c:pt>
                <c:pt idx="9">
                  <c:v>68043</c:v>
                </c:pt>
                <c:pt idx="10">
                  <c:v>63662</c:v>
                </c:pt>
                <c:pt idx="11">
                  <c:v>58204</c:v>
                </c:pt>
                <c:pt idx="12">
                  <c:v>51819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F9A826"/>
            </a:solidFill>
            <a:effectLst/>
          </c:spPr>
          <c:invertIfNegative val="0"/>
          <c:dLbls>
            <c:numFmt formatCode="£0,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GCP</c:v>
                  </c:pt>
                  <c:pt idx="1">
                    <c:v>Kubernetes</c:v>
                  </c:pt>
                  <c:pt idx="2">
                    <c:v>Python</c:v>
                  </c:pt>
                  <c:pt idx="3">
                    <c:v>React</c:v>
                  </c:pt>
                  <c:pt idx="4">
                    <c:v>AWS</c:v>
                  </c:pt>
                  <c:pt idx="5">
                    <c:v>ETL</c:v>
                  </c:pt>
                  <c:pt idx="6">
                    <c:v>Java</c:v>
                  </c:pt>
                  <c:pt idx="7">
                    <c:v>Machine Learning</c:v>
                  </c:pt>
                  <c:pt idx="8">
                    <c:v>Azure</c:v>
                  </c:pt>
                  <c:pt idx="9">
                    <c:v>Agile</c:v>
                  </c:pt>
                  <c:pt idx="10">
                    <c:v>Docker</c:v>
                  </c:pt>
                  <c:pt idx="11">
                    <c:v>SQL</c:v>
                  </c:pt>
                  <c:pt idx="12">
                    <c:v>Power BI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80000</c:v>
                </c:pt>
                <c:pt idx="1">
                  <c:v>70831</c:v>
                </c:pt>
                <c:pt idx="2">
                  <c:v>69627</c:v>
                </c:pt>
                <c:pt idx="3">
                  <c:v>70000</c:v>
                </c:pt>
                <c:pt idx="4">
                  <c:v>67653</c:v>
                </c:pt>
                <c:pt idx="5">
                  <c:v>70000</c:v>
                </c:pt>
                <c:pt idx="6">
                  <c:v>70000</c:v>
                </c:pt>
                <c:pt idx="7">
                  <c:v>64500</c:v>
                </c:pt>
                <c:pt idx="8">
                  <c:v>61261</c:v>
                </c:pt>
                <c:pt idx="9">
                  <c:v>60214</c:v>
                </c:pt>
                <c:pt idx="10">
                  <c:v>60000</c:v>
                </c:pt>
                <c:pt idx="11">
                  <c:v>57651</c:v>
                </c:pt>
                <c:pt idx="12">
                  <c:v>59978</c:v>
                </c:pt>
              </c:numCache>
            </c:numRef>
          </c:val>
        </c:ser>
        <c:dLbls>
          <c:numFmt formatCode="£0,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1A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A82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9A82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Baseline</c:v>
                  </c:pt>
                  <c:pt idx="1">
                    <c:v>2k features</c:v>
                  </c:pt>
                  <c:pt idx="2">
                    <c:v>Balanced</c:v>
                  </c:pt>
                  <c:pt idx="3">
                    <c:v>5k + LR</c:v>
                  </c:pt>
                  <c:pt idx="4">
                    <c:v>5k + SVC</c:v>
                  </c:pt>
                  <c:pt idx="5">
                    <c:v>+ Title (LR)</c:v>
                  </c:pt>
                  <c:pt idx="6">
                    <c:v>+ Title (SVC)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72.84</c:v>
                </c:pt>
                <c:pt idx="1">
                  <c:v>73.81</c:v>
                </c:pt>
                <c:pt idx="2">
                  <c:v>75.3</c:v>
                </c:pt>
                <c:pt idx="3">
                  <c:v>76.19</c:v>
                </c:pt>
                <c:pt idx="4">
                  <c:v>76.34</c:v>
                </c:pt>
                <c:pt idx="5">
                  <c:v>91.62</c:v>
                </c:pt>
                <c:pt idx="6">
                  <c:v>92.77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8778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AI Job Market Intelligence Platform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AI Job Market Intelligence Platform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top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circle bottom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Kicker"/>
          <p:cNvSpPr txBox="1"/>
          <p:nvPr/>
        </p:nvSpPr>
        <p:spPr>
          <a:xfrm>
            <a:off x="73152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GRADUATION PROJECT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73736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 Job Market Intelligence Platform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1148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Real job postings turned into skills, salary, and career insights — from an automated data pipeline to machine learning.</a:t>
            </a:r>
            <a:endParaRPr lang="en-US" sz="1800" dirty="0"/>
          </a:p>
        </p:txBody>
      </p:sp>
      <p:sp>
        <p:nvSpPr>
          <p:cNvPr id="7" name="Topic line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Data Engineering  ·  NLP  ·  SQL  ·  Machine Learning  · 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Job seekers guess — we measured</a:t>
            </a:r>
            <a:endParaRPr lang="en-US" sz="3600" dirty="0"/>
          </a:p>
        </p:txBody>
      </p:sp>
      <p:sp>
        <p:nvSpPr>
          <p:cNvPr id="3" name="Intro"/>
          <p:cNvSpPr txBox="1"/>
          <p:nvPr/>
        </p:nvSpPr>
        <p:spPr>
          <a:xfrm>
            <a:off x="731520" y="13716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Students and job seekers rarely know, with evidence, which skills the market rewards. Career advice is often anecdotal — this project replaces guesswork with real, measured data.</a:t>
            </a:r>
            <a:endParaRPr lang="en-US" sz="1600" dirty="0"/>
          </a:p>
        </p:txBody>
      </p:sp>
      <p:sp>
        <p:nvSpPr>
          <p:cNvPr id="4" name="Card 1"/>
          <p:cNvSpPr/>
          <p:nvPr/>
        </p:nvSpPr>
        <p:spPr>
          <a:xfrm>
            <a:off x="731520" y="2651760"/>
            <a:ext cx="344728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1051560" y="297180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Badge 1 label"/>
          <p:cNvSpPr txBox="1"/>
          <p:nvPr/>
        </p:nvSpPr>
        <p:spPr>
          <a:xfrm>
            <a:off x="105156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 title 1"/>
          <p:cNvSpPr txBox="1"/>
          <p:nvPr/>
        </p:nvSpPr>
        <p:spPr>
          <a:xfrm>
            <a:off x="1051560" y="38404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For students</a:t>
            </a:r>
            <a:endParaRPr lang="en-US" sz="2000" dirty="0"/>
          </a:p>
        </p:txBody>
      </p:sp>
      <p:sp>
        <p:nvSpPr>
          <p:cNvPr id="8" name="Card text 1"/>
          <p:cNvSpPr txBox="1"/>
          <p:nvPr/>
        </p:nvSpPr>
        <p:spPr>
          <a:xfrm>
            <a:off x="1051560" y="4389120"/>
            <a:ext cx="2807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See which skills are actually in demand before choosing a specialization.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4370832" y="2651760"/>
            <a:ext cx="344728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4690872" y="297180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Badge 2 label"/>
          <p:cNvSpPr txBox="1"/>
          <p:nvPr/>
        </p:nvSpPr>
        <p:spPr>
          <a:xfrm>
            <a:off x="4690872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rd title 2"/>
          <p:cNvSpPr txBox="1"/>
          <p:nvPr/>
        </p:nvSpPr>
        <p:spPr>
          <a:xfrm>
            <a:off x="4690872" y="38404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For job seekers</a:t>
            </a:r>
            <a:endParaRPr lang="en-US" sz="2000" dirty="0"/>
          </a:p>
        </p:txBody>
      </p:sp>
      <p:sp>
        <p:nvSpPr>
          <p:cNvPr id="13" name="Card text 2"/>
          <p:cNvSpPr txBox="1"/>
          <p:nvPr/>
        </p:nvSpPr>
        <p:spPr>
          <a:xfrm>
            <a:off x="4690872" y="4389120"/>
            <a:ext cx="2807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Find real postings that best match the skills they already have.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8010144" y="2651760"/>
            <a:ext cx="344728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8330184" y="297180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Badge 3 label"/>
          <p:cNvSpPr txBox="1"/>
          <p:nvPr/>
        </p:nvSpPr>
        <p:spPr>
          <a:xfrm>
            <a:off x="8330184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rd title 3"/>
          <p:cNvSpPr txBox="1"/>
          <p:nvPr/>
        </p:nvSpPr>
        <p:spPr>
          <a:xfrm>
            <a:off x="8330184" y="38404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For companies</a:t>
            </a:r>
            <a:endParaRPr lang="en-US" sz="2000" dirty="0"/>
          </a:p>
        </p:txBody>
      </p:sp>
      <p:sp>
        <p:nvSpPr>
          <p:cNvPr id="18" name="Card text 3"/>
          <p:cNvSpPr txBox="1"/>
          <p:nvPr/>
        </p:nvSpPr>
        <p:spPr>
          <a:xfrm>
            <a:off x="8330184" y="4389120"/>
            <a:ext cx="2807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Understand how skill demand and salary differ across roles.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pipeline, six stages</a:t>
            </a:r>
            <a:endParaRPr lang="en-US" sz="3600" dirty="0"/>
          </a:p>
        </p:txBody>
      </p:sp>
      <p:sp>
        <p:nvSpPr>
          <p:cNvPr id="3" name="Stage 1"/>
          <p:cNvSpPr/>
          <p:nvPr/>
        </p:nvSpPr>
        <p:spPr>
          <a:xfrm>
            <a:off x="731520" y="1737360"/>
            <a:ext cx="1645920" cy="2103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Stage number 1"/>
          <p:cNvSpPr txBox="1"/>
          <p:nvPr/>
        </p:nvSpPr>
        <p:spPr>
          <a:xfrm>
            <a:off x="914400" y="1920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age name 1"/>
          <p:cNvSpPr txBox="1"/>
          <p:nvPr/>
        </p:nvSpPr>
        <p:spPr>
          <a:xfrm>
            <a:off x="91440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Collect</a:t>
            </a:r>
            <a:endParaRPr lang="en-US" sz="1800" dirty="0"/>
          </a:p>
        </p:txBody>
      </p:sp>
      <p:sp>
        <p:nvSpPr>
          <p:cNvPr id="6" name="Stage text 1"/>
          <p:cNvSpPr txBox="1"/>
          <p:nvPr/>
        </p:nvSpPr>
        <p:spPr>
          <a:xfrm>
            <a:off x="914400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Adzuna API,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4 countries</a:t>
            </a:r>
            <a:endParaRPr lang="en-US" sz="1400" dirty="0"/>
          </a:p>
        </p:txBody>
      </p:sp>
      <p:sp>
        <p:nvSpPr>
          <p:cNvPr id="7" name="Chevron 1"/>
          <p:cNvSpPr/>
          <p:nvPr/>
        </p:nvSpPr>
        <p:spPr>
          <a:xfrm>
            <a:off x="2389327" y="2697480"/>
            <a:ext cx="146304" cy="18288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8" name="Stage 2"/>
          <p:cNvSpPr/>
          <p:nvPr/>
        </p:nvSpPr>
        <p:spPr>
          <a:xfrm>
            <a:off x="2547518" y="1737360"/>
            <a:ext cx="1645920" cy="2103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Stage number 2"/>
          <p:cNvSpPr txBox="1"/>
          <p:nvPr/>
        </p:nvSpPr>
        <p:spPr>
          <a:xfrm>
            <a:off x="2730398" y="1920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age name 2"/>
          <p:cNvSpPr txBox="1"/>
          <p:nvPr/>
        </p:nvSpPr>
        <p:spPr>
          <a:xfrm>
            <a:off x="2730398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</a:t>
            </a:r>
            <a:endParaRPr lang="en-US" sz="1800" dirty="0"/>
          </a:p>
        </p:txBody>
      </p:sp>
      <p:sp>
        <p:nvSpPr>
          <p:cNvPr id="11" name="Stage text 2"/>
          <p:cNvSpPr txBox="1"/>
          <p:nvPr/>
        </p:nvSpPr>
        <p:spPr>
          <a:xfrm>
            <a:off x="2730398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Dedupe and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flatten</a:t>
            </a:r>
            <a:endParaRPr lang="en-US" sz="1400" dirty="0"/>
          </a:p>
        </p:txBody>
      </p:sp>
      <p:sp>
        <p:nvSpPr>
          <p:cNvPr id="12" name="Chevron 2"/>
          <p:cNvSpPr/>
          <p:nvPr/>
        </p:nvSpPr>
        <p:spPr>
          <a:xfrm>
            <a:off x="4205326" y="2697480"/>
            <a:ext cx="146304" cy="18288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13" name="Stage 3"/>
          <p:cNvSpPr/>
          <p:nvPr/>
        </p:nvSpPr>
        <p:spPr>
          <a:xfrm>
            <a:off x="4363517" y="1737360"/>
            <a:ext cx="1645920" cy="2103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Stage number 3"/>
          <p:cNvSpPr txBox="1"/>
          <p:nvPr/>
        </p:nvSpPr>
        <p:spPr>
          <a:xfrm>
            <a:off x="4546397" y="1920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tage name 3"/>
          <p:cNvSpPr txBox="1"/>
          <p:nvPr/>
        </p:nvSpPr>
        <p:spPr>
          <a:xfrm>
            <a:off x="4546397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Extract</a:t>
            </a:r>
            <a:endParaRPr lang="en-US" sz="1800" dirty="0"/>
          </a:p>
        </p:txBody>
      </p:sp>
      <p:sp>
        <p:nvSpPr>
          <p:cNvPr id="16" name="Stage text 3"/>
          <p:cNvSpPr txBox="1"/>
          <p:nvPr/>
        </p:nvSpPr>
        <p:spPr>
          <a:xfrm>
            <a:off x="4546397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NLP skill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detection</a:t>
            </a:r>
            <a:endParaRPr lang="en-US" sz="1400" dirty="0"/>
          </a:p>
        </p:txBody>
      </p:sp>
      <p:sp>
        <p:nvSpPr>
          <p:cNvPr id="17" name="Chevron 3"/>
          <p:cNvSpPr/>
          <p:nvPr/>
        </p:nvSpPr>
        <p:spPr>
          <a:xfrm>
            <a:off x="6021324" y="2697480"/>
            <a:ext cx="146304" cy="18288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18" name="Stage 4"/>
          <p:cNvSpPr/>
          <p:nvPr/>
        </p:nvSpPr>
        <p:spPr>
          <a:xfrm>
            <a:off x="6179515" y="1737360"/>
            <a:ext cx="1645920" cy="2103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Stage number 4"/>
          <p:cNvSpPr txBox="1"/>
          <p:nvPr/>
        </p:nvSpPr>
        <p:spPr>
          <a:xfrm>
            <a:off x="6362395" y="1920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Stage name 4"/>
          <p:cNvSpPr txBox="1"/>
          <p:nvPr/>
        </p:nvSpPr>
        <p:spPr>
          <a:xfrm>
            <a:off x="6362395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Store</a:t>
            </a:r>
            <a:endParaRPr lang="en-US" sz="1800" dirty="0"/>
          </a:p>
        </p:txBody>
      </p:sp>
      <p:sp>
        <p:nvSpPr>
          <p:cNvPr id="21" name="Stage text 4"/>
          <p:cNvSpPr txBox="1"/>
          <p:nvPr/>
        </p:nvSpPr>
        <p:spPr>
          <a:xfrm>
            <a:off x="6362395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Relational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SQL database</a:t>
            </a:r>
            <a:endParaRPr lang="en-US" sz="1400" dirty="0"/>
          </a:p>
        </p:txBody>
      </p:sp>
      <p:sp>
        <p:nvSpPr>
          <p:cNvPr id="22" name="Chevron 4"/>
          <p:cNvSpPr/>
          <p:nvPr/>
        </p:nvSpPr>
        <p:spPr>
          <a:xfrm>
            <a:off x="7837322" y="2697480"/>
            <a:ext cx="146304" cy="18288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23" name="Stage 5"/>
          <p:cNvSpPr/>
          <p:nvPr/>
        </p:nvSpPr>
        <p:spPr>
          <a:xfrm>
            <a:off x="7995514" y="1737360"/>
            <a:ext cx="1645920" cy="2103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4" name="Stage number 5"/>
          <p:cNvSpPr txBox="1"/>
          <p:nvPr/>
        </p:nvSpPr>
        <p:spPr>
          <a:xfrm>
            <a:off x="8178394" y="1920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Stage name 5"/>
          <p:cNvSpPr txBox="1"/>
          <p:nvPr/>
        </p:nvSpPr>
        <p:spPr>
          <a:xfrm>
            <a:off x="8178394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Visualize</a:t>
            </a:r>
            <a:endParaRPr lang="en-US" sz="1800" dirty="0"/>
          </a:p>
        </p:txBody>
      </p:sp>
      <p:sp>
        <p:nvSpPr>
          <p:cNvPr id="26" name="Stage text 5"/>
          <p:cNvSpPr txBox="1"/>
          <p:nvPr/>
        </p:nvSpPr>
        <p:spPr>
          <a:xfrm>
            <a:off x="8178394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Interactive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7" name="Chevron 5"/>
          <p:cNvSpPr/>
          <p:nvPr/>
        </p:nvSpPr>
        <p:spPr>
          <a:xfrm>
            <a:off x="9653321" y="2697480"/>
            <a:ext cx="146304" cy="18288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28" name="Stage 6"/>
          <p:cNvSpPr/>
          <p:nvPr/>
        </p:nvSpPr>
        <p:spPr>
          <a:xfrm>
            <a:off x="9811512" y="1737360"/>
            <a:ext cx="1645920" cy="21031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9" name="Stage number 6"/>
          <p:cNvSpPr txBox="1"/>
          <p:nvPr/>
        </p:nvSpPr>
        <p:spPr>
          <a:xfrm>
            <a:off x="9994392" y="1920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Stage name 6"/>
          <p:cNvSpPr txBox="1"/>
          <p:nvPr/>
        </p:nvSpPr>
        <p:spPr>
          <a:xfrm>
            <a:off x="9994392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</a:t>
            </a:r>
            <a:endParaRPr lang="en-US" sz="1800" dirty="0"/>
          </a:p>
        </p:txBody>
      </p:sp>
      <p:sp>
        <p:nvSpPr>
          <p:cNvPr id="31" name="Stage text 6"/>
          <p:cNvSpPr txBox="1"/>
          <p:nvPr/>
        </p:nvSpPr>
        <p:spPr>
          <a:xfrm>
            <a:off x="9994392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Job-family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classifier</a:t>
            </a:r>
            <a:endParaRPr lang="en-US" sz="1400" dirty="0"/>
          </a:p>
        </p:txBody>
      </p:sp>
      <p:sp>
        <p:nvSpPr>
          <p:cNvPr id="32" name="Automation callout"/>
          <p:cNvSpPr/>
          <p:nvPr/>
        </p:nvSpPr>
        <p:spPr>
          <a:xfrm>
            <a:off x="731520" y="4297680"/>
            <a:ext cx="1072591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3" name="Automation badge"/>
          <p:cNvSpPr/>
          <p:nvPr/>
        </p:nvSpPr>
        <p:spPr>
          <a:xfrm>
            <a:off x="1097280" y="46634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Automation badge label"/>
          <p:cNvSpPr txBox="1"/>
          <p:nvPr/>
        </p:nvSpPr>
        <p:spPr>
          <a:xfrm>
            <a:off x="109728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↻</a:t>
            </a:r>
            <a:endParaRPr lang="en-US" sz="1600" dirty="0"/>
          </a:p>
        </p:txBody>
      </p:sp>
      <p:sp>
        <p:nvSpPr>
          <p:cNvPr id="35" name="Automation callout text"/>
          <p:cNvSpPr txBox="1"/>
          <p:nvPr/>
        </p:nvSpPr>
        <p:spPr>
          <a:xfrm>
            <a:off x="1920240" y="4297680"/>
            <a:ext cx="9171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Collection runs automatically every day on GitHub Actions — the dataset grows without any manual work.</a:t>
            </a:r>
            <a:endParaRPr lang="en-US" sz="1800" dirty="0"/>
          </a:p>
        </p:txBody>
      </p:sp>
      <p:sp>
        <p:nvSpPr>
          <p:cNvPr id="36" name="Pipeline footnote"/>
          <p:cNvSpPr txBox="1"/>
          <p:nvPr/>
        </p:nvSpPr>
        <p:spPr>
          <a:xfrm>
            <a:off x="731520" y="58521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Every stage runs on the same real dataset — no mock or placeholder data anywhere.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real dataset that keeps growing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Collected from the Adzuna Job Search API, with pagination, retries, and rate-limit handling.</a:t>
            </a:r>
            <a:endParaRPr lang="en-US" sz="1400" dirty="0"/>
          </a:p>
        </p:txBody>
      </p:sp>
      <p:sp>
        <p:nvSpPr>
          <p:cNvPr id="4" name="Stat card 1"/>
          <p:cNvSpPr/>
          <p:nvPr/>
        </p:nvSpPr>
        <p:spPr>
          <a:xfrm>
            <a:off x="731520" y="1828800"/>
            <a:ext cx="2510028" cy="2560320"/>
          </a:xfrm>
          <a:prstGeom prst="roundRect">
            <a:avLst>
              <a:gd name="adj" fmla="val 4372"/>
            </a:avLst>
          </a:prstGeom>
          <a:solidFill>
            <a:schemeClr val="accent5"/>
          </a:solidFill>
          <a:ln/>
        </p:spPr>
      </p:sp>
      <p:sp>
        <p:nvSpPr>
          <p:cNvPr id="5" name="Stat value 1"/>
          <p:cNvSpPr txBox="1"/>
          <p:nvPr/>
        </p:nvSpPr>
        <p:spPr>
          <a:xfrm>
            <a:off x="1005840" y="2194560"/>
            <a:ext cx="2052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~8,000</a:t>
            </a:r>
            <a:endParaRPr lang="en-US" sz="4000" dirty="0"/>
          </a:p>
        </p:txBody>
      </p:sp>
      <p:sp>
        <p:nvSpPr>
          <p:cNvPr id="6" name="Stat label 1"/>
          <p:cNvSpPr txBox="1"/>
          <p:nvPr/>
        </p:nvSpPr>
        <p:spPr>
          <a:xfrm>
            <a:off x="1005840" y="324612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Job postings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collected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470148" y="1828800"/>
            <a:ext cx="2510028" cy="2560320"/>
          </a:xfrm>
          <a:prstGeom prst="roundRect">
            <a:avLst>
              <a:gd name="adj" fmla="val 4372"/>
            </a:avLst>
          </a:prstGeom>
          <a:solidFill>
            <a:schemeClr val="accent5"/>
          </a:solidFill>
          <a:ln/>
        </p:spPr>
      </p:sp>
      <p:sp>
        <p:nvSpPr>
          <p:cNvPr id="8" name="Stat value 2"/>
          <p:cNvSpPr txBox="1"/>
          <p:nvPr/>
        </p:nvSpPr>
        <p:spPr>
          <a:xfrm>
            <a:off x="3744468" y="2194560"/>
            <a:ext cx="2052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Stat label 2"/>
          <p:cNvSpPr txBox="1"/>
          <p:nvPr/>
        </p:nvSpPr>
        <p:spPr>
          <a:xfrm>
            <a:off x="3744468" y="324612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Countries: UK, US,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Canada, Australia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6208776" y="1828800"/>
            <a:ext cx="2510028" cy="2560320"/>
          </a:xfrm>
          <a:prstGeom prst="roundRect">
            <a:avLst>
              <a:gd name="adj" fmla="val 4372"/>
            </a:avLst>
          </a:prstGeom>
          <a:solidFill>
            <a:schemeClr val="accent5"/>
          </a:solidFill>
          <a:ln/>
        </p:spPr>
      </p:sp>
      <p:sp>
        <p:nvSpPr>
          <p:cNvPr id="11" name="Stat value 3"/>
          <p:cNvSpPr txBox="1"/>
          <p:nvPr/>
        </p:nvSpPr>
        <p:spPr>
          <a:xfrm>
            <a:off x="6483096" y="2194560"/>
            <a:ext cx="2052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</a:t>
            </a:r>
            <a:endParaRPr lang="en-US" sz="4000" dirty="0"/>
          </a:p>
        </p:txBody>
      </p:sp>
      <p:sp>
        <p:nvSpPr>
          <p:cNvPr id="12" name="Stat label 3"/>
          <p:cNvSpPr txBox="1"/>
          <p:nvPr/>
        </p:nvSpPr>
        <p:spPr>
          <a:xfrm>
            <a:off x="6483096" y="324612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Job families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covered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8947404" y="1828800"/>
            <a:ext cx="2510028" cy="2560320"/>
          </a:xfrm>
          <a:prstGeom prst="roundRect">
            <a:avLst>
              <a:gd name="adj" fmla="val 4372"/>
            </a:avLst>
          </a:prstGeom>
          <a:solidFill>
            <a:schemeClr val="accent5"/>
          </a:solidFill>
          <a:ln/>
        </p:spPr>
      </p:sp>
      <p:sp>
        <p:nvSpPr>
          <p:cNvPr id="14" name="Stat value 4"/>
          <p:cNvSpPr txBox="1"/>
          <p:nvPr/>
        </p:nvSpPr>
        <p:spPr>
          <a:xfrm>
            <a:off x="9221724" y="2194560"/>
            <a:ext cx="2052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</a:t>
            </a:r>
            <a:endParaRPr lang="en-US" sz="4000" dirty="0"/>
          </a:p>
        </p:txBody>
      </p:sp>
      <p:sp>
        <p:nvSpPr>
          <p:cNvPr id="15" name="Stat label 4"/>
          <p:cNvSpPr txBox="1"/>
          <p:nvPr/>
        </p:nvSpPr>
        <p:spPr>
          <a:xfrm>
            <a:off x="9221724" y="324612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Technical skills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tracked</a:t>
            </a:r>
            <a:endParaRPr lang="en-US" sz="1400" dirty="0"/>
          </a:p>
        </p:txBody>
      </p:sp>
      <p:sp>
        <p:nvSpPr>
          <p:cNvPr id="16" name="UK subset note"/>
          <p:cNvSpPr txBox="1"/>
          <p:nvPr/>
        </p:nvSpPr>
        <p:spPr>
          <a:xfrm>
            <a:off x="731520" y="47091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Database and model use the UK subset: 3,180 postings from 1,189 employers (2,684 unique after counting repeated adverts once).</a:t>
            </a:r>
            <a:endParaRPr lang="en-US" sz="1600" dirty="0"/>
          </a:p>
        </p:txBody>
      </p:sp>
      <p:sp>
        <p:nvSpPr>
          <p:cNvPr id="17" name="Job family list"/>
          <p:cNvSpPr txBox="1"/>
          <p:nvPr/>
        </p:nvSpPr>
        <p:spPr>
          <a:xfrm>
            <a:off x="731520" y="54864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Data Analyst · Data Scientist · Data Engineer · ML Engineer · Business Analyst · BI Analyst · Software Engineer · Cloud Engineer · Cybersecurity Engineer · AI Engineer · DevOps Engineer · Full Stack · Backend · Frontend · Data Architect · Analytics Engineer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Data that collects itself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An unattended daily workflow keeps the dataset growing inside the API's usage limits.</a:t>
            </a:r>
            <a:endParaRPr lang="en-US" sz="1400" dirty="0"/>
          </a:p>
        </p:txBody>
      </p:sp>
      <p:sp>
        <p:nvSpPr>
          <p:cNvPr id="4" name="Step card 1"/>
          <p:cNvSpPr/>
          <p:nvPr/>
        </p:nvSpPr>
        <p:spPr>
          <a:xfrm>
            <a:off x="731520" y="1828800"/>
            <a:ext cx="2510028" cy="2834640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/>
        </p:spPr>
      </p:sp>
      <p:sp>
        <p:nvSpPr>
          <p:cNvPr id="5" name="Step badge 1"/>
          <p:cNvSpPr/>
          <p:nvPr/>
        </p:nvSpPr>
        <p:spPr>
          <a:xfrm>
            <a:off x="1005840" y="2103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tep badge 1 label"/>
          <p:cNvSpPr txBox="1"/>
          <p:nvPr/>
        </p:nvSpPr>
        <p:spPr>
          <a:xfrm>
            <a:off x="10058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title 1"/>
          <p:cNvSpPr txBox="1"/>
          <p:nvPr/>
        </p:nvSpPr>
        <p:spPr>
          <a:xfrm>
            <a:off x="1005840" y="283464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Daily trigger</a:t>
            </a:r>
            <a:endParaRPr lang="en-US" sz="1800" dirty="0"/>
          </a:p>
        </p:txBody>
      </p:sp>
      <p:sp>
        <p:nvSpPr>
          <p:cNvPr id="8" name="Step text 1"/>
          <p:cNvSpPr txBox="1"/>
          <p:nvPr/>
        </p:nvSpPr>
        <p:spPr>
          <a:xfrm>
            <a:off x="1005840" y="3337560"/>
            <a:ext cx="20528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GitHub Actions starts the collector every day at 06:00 UTC.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3470148" y="1828800"/>
            <a:ext cx="2510028" cy="2834640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/>
        </p:spPr>
      </p:sp>
      <p:sp>
        <p:nvSpPr>
          <p:cNvPr id="10" name="Step badge 2"/>
          <p:cNvSpPr/>
          <p:nvPr/>
        </p:nvSpPr>
        <p:spPr>
          <a:xfrm>
            <a:off x="3744468" y="2103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Step badge 2 label"/>
          <p:cNvSpPr txBox="1"/>
          <p:nvPr/>
        </p:nvSpPr>
        <p:spPr>
          <a:xfrm>
            <a:off x="374446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title 2"/>
          <p:cNvSpPr txBox="1"/>
          <p:nvPr/>
        </p:nvSpPr>
        <p:spPr>
          <a:xfrm>
            <a:off x="3744468" y="283464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Collect</a:t>
            </a:r>
            <a:endParaRPr lang="en-US" sz="1800" dirty="0"/>
          </a:p>
        </p:txBody>
      </p:sp>
      <p:sp>
        <p:nvSpPr>
          <p:cNvPr id="13" name="Step text 2"/>
          <p:cNvSpPr txBox="1"/>
          <p:nvPr/>
        </p:nvSpPr>
        <p:spPr>
          <a:xfrm>
            <a:off x="3744468" y="3337560"/>
            <a:ext cx="20528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4 countries × 16 job families, resuming where the last run stopped.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6208776" y="1828800"/>
            <a:ext cx="2510028" cy="2834640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/>
        </p:spPr>
      </p:sp>
      <p:sp>
        <p:nvSpPr>
          <p:cNvPr id="15" name="Step badge 3"/>
          <p:cNvSpPr/>
          <p:nvPr/>
        </p:nvSpPr>
        <p:spPr>
          <a:xfrm>
            <a:off x="6483096" y="2103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Step badge 3 label"/>
          <p:cNvSpPr txBox="1"/>
          <p:nvPr/>
        </p:nvSpPr>
        <p:spPr>
          <a:xfrm>
            <a:off x="648309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title 3"/>
          <p:cNvSpPr txBox="1"/>
          <p:nvPr/>
        </p:nvSpPr>
        <p:spPr>
          <a:xfrm>
            <a:off x="6483096" y="283464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Merge</a:t>
            </a:r>
            <a:endParaRPr lang="en-US" sz="1800" dirty="0"/>
          </a:p>
        </p:txBody>
      </p:sp>
      <p:sp>
        <p:nvSpPr>
          <p:cNvPr id="18" name="Step text 3"/>
          <p:cNvSpPr txBox="1"/>
          <p:nvPr/>
        </p:nvSpPr>
        <p:spPr>
          <a:xfrm>
            <a:off x="6483096" y="3337560"/>
            <a:ext cx="20528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New postings are added, duplicates dropped, skills extracted.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8947404" y="1828800"/>
            <a:ext cx="2510028" cy="2834640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/>
        </p:spPr>
      </p:sp>
      <p:sp>
        <p:nvSpPr>
          <p:cNvPr id="20" name="Step badge 4"/>
          <p:cNvSpPr/>
          <p:nvPr/>
        </p:nvSpPr>
        <p:spPr>
          <a:xfrm>
            <a:off x="9221724" y="2103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Step badge 4 label"/>
          <p:cNvSpPr txBox="1"/>
          <p:nvPr/>
        </p:nvSpPr>
        <p:spPr>
          <a:xfrm>
            <a:off x="922172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tep title 4"/>
          <p:cNvSpPr txBox="1"/>
          <p:nvPr/>
        </p:nvSpPr>
        <p:spPr>
          <a:xfrm>
            <a:off x="9221724" y="283464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Commit</a:t>
            </a:r>
            <a:endParaRPr lang="en-US" sz="1800" dirty="0"/>
          </a:p>
        </p:txBody>
      </p:sp>
      <p:sp>
        <p:nvSpPr>
          <p:cNvPr id="23" name="Step text 4"/>
          <p:cNvSpPr txBox="1"/>
          <p:nvPr/>
        </p:nvSpPr>
        <p:spPr>
          <a:xfrm>
            <a:off x="9221724" y="3337560"/>
            <a:ext cx="20528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The updated dataset is pushed to the repository.</a:t>
            </a:r>
            <a:endParaRPr lang="en-US" sz="1400" dirty="0"/>
          </a:p>
        </p:txBody>
      </p:sp>
      <p:sp>
        <p:nvSpPr>
          <p:cNvPr id="24" name="Trend callout"/>
          <p:cNvSpPr/>
          <p:nvPr/>
        </p:nvSpPr>
        <p:spPr>
          <a:xfrm>
            <a:off x="731520" y="4937760"/>
            <a:ext cx="10725912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5" name="Trend callout text"/>
          <p:cNvSpPr txBox="1"/>
          <p:nvPr/>
        </p:nvSpPr>
        <p:spPr>
          <a:xfrm>
            <a:off x="1097280" y="4937760"/>
            <a:ext cx="9994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Every posting keeps first_seen and last_seen, so skill trends over time become measurable as the data accumulates.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employers ask for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Unique UK postings mentioning each skill (2,684 postings)</a:t>
            </a:r>
            <a:endParaRPr lang="en-US" sz="1400" dirty="0"/>
          </a:p>
        </p:txBody>
      </p:sp>
      <p:graphicFrame>
        <p:nvGraphicFramePr>
          <p:cNvPr id="4" name="Top skills chart" descr=""/>
          <p:cNvGraphicFramePr/>
          <p:nvPr/>
        </p:nvGraphicFramePr>
        <p:xfrm>
          <a:off x="731520" y="17373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verage card"/>
          <p:cNvSpPr/>
          <p:nvPr/>
        </p:nvSpPr>
        <p:spPr>
          <a:xfrm>
            <a:off x="8138160" y="1737360"/>
            <a:ext cx="3319272" cy="4480560"/>
          </a:xfrm>
          <a:prstGeom prst="roundRect">
            <a:avLst>
              <a:gd name="adj" fmla="val 3306"/>
            </a:avLst>
          </a:prstGeom>
          <a:solidFill>
            <a:schemeClr val="tx2"/>
          </a:solidFill>
          <a:ln/>
        </p:spPr>
      </p:sp>
      <p:sp>
        <p:nvSpPr>
          <p:cNvPr id="6" name="Coverage value"/>
          <p:cNvSpPr txBox="1"/>
          <p:nvPr/>
        </p:nvSpPr>
        <p:spPr>
          <a:xfrm>
            <a:off x="8412480" y="20116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28%</a:t>
            </a:r>
            <a:endParaRPr lang="en-US" sz="5400" dirty="0"/>
          </a:p>
        </p:txBody>
      </p:sp>
      <p:sp>
        <p:nvSpPr>
          <p:cNvPr id="7" name="Coverage label"/>
          <p:cNvSpPr txBox="1"/>
          <p:nvPr/>
        </p:nvSpPr>
        <p:spPr>
          <a:xfrm>
            <a:off x="841248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of postings mention at least one of the 35 tracked skills.</a:t>
            </a:r>
            <a:endParaRPr lang="en-US" sz="1600" dirty="0"/>
          </a:p>
        </p:txBody>
      </p:sp>
      <p:sp>
        <p:nvSpPr>
          <p:cNvPr id="8" name="Coverage caveat"/>
          <p:cNvSpPr txBox="1"/>
          <p:nvPr/>
        </p:nvSpPr>
        <p:spPr>
          <a:xfrm>
            <a:off x="8412480" y="41605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Adzuna provides a description snippet, not the full text, so true skill demand is higher than these counts.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Salary by skill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Advertised minimum salary (£, UK) for skills with 20+ salaried postings</a:t>
            </a:r>
            <a:endParaRPr lang="en-US" sz="1400" dirty="0"/>
          </a:p>
        </p:txBody>
      </p:sp>
      <p:graphicFrame>
        <p:nvGraphicFramePr>
          <p:cNvPr id="4" name="Salary chart" descr=""/>
          <p:cNvGraphicFramePr/>
          <p:nvPr/>
        </p:nvGraphicFramePr>
        <p:xfrm>
          <a:off x="731520" y="1645920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alary insight card"/>
          <p:cNvSpPr/>
          <p:nvPr/>
        </p:nvSpPr>
        <p:spPr>
          <a:xfrm>
            <a:off x="8595360" y="1737360"/>
            <a:ext cx="2862072" cy="4480560"/>
          </a:xfrm>
          <a:prstGeom prst="roundRect">
            <a:avLst>
              <a:gd name="adj" fmla="val 3834"/>
            </a:avLst>
          </a:prstGeom>
          <a:solidFill>
            <a:schemeClr val="tx2"/>
          </a:solidFill>
          <a:ln/>
        </p:spPr>
      </p:sp>
      <p:sp>
        <p:nvSpPr>
          <p:cNvPr id="6" name="Insight heading"/>
          <p:cNvSpPr txBox="1"/>
          <p:nvPr/>
        </p:nvSpPr>
        <p:spPr>
          <a:xfrm>
            <a:off x="886968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Average vs median</a:t>
            </a:r>
            <a:endParaRPr lang="en-US" sz="1800" dirty="0"/>
          </a:p>
        </p:txBody>
      </p:sp>
      <p:sp>
        <p:nvSpPr>
          <p:cNvPr id="7" name="Insight text"/>
          <p:cNvSpPr txBox="1"/>
          <p:nvPr/>
        </p:nvSpPr>
        <p:spPr>
          <a:xfrm>
            <a:off x="886968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 few very high-paying ads pull averages up. For Azure the average is £71k but the median is £61k.</a:t>
            </a:r>
            <a:endParaRPr lang="en-US" sz="1400" dirty="0"/>
          </a:p>
        </p:txBody>
      </p:sp>
      <p:sp>
        <p:nvSpPr>
          <p:cNvPr id="8" name="Insight takeaway"/>
          <p:cNvSpPr txBox="1"/>
          <p:nvPr/>
        </p:nvSpPr>
        <p:spPr>
          <a:xfrm>
            <a:off x="8869680" y="45262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The median is the safer reading when a few ads pay far more than the rest.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relational database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Four linked SQL Server tables instead of one flat spreadsheet — so real queries replace manual filtering.</a:t>
            </a:r>
            <a:endParaRPr lang="en-US" sz="1400" dirty="0"/>
          </a:p>
        </p:txBody>
      </p:sp>
      <p:sp>
        <p:nvSpPr>
          <p:cNvPr id="4" name="Table card 1"/>
          <p:cNvSpPr/>
          <p:nvPr/>
        </p:nvSpPr>
        <p:spPr>
          <a:xfrm>
            <a:off x="731520" y="1828800"/>
            <a:ext cx="2510028" cy="2743200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/>
        </p:spPr>
      </p:sp>
      <p:sp>
        <p:nvSpPr>
          <p:cNvPr id="5" name="Table name 1"/>
          <p:cNvSpPr txBox="1"/>
          <p:nvPr/>
        </p:nvSpPr>
        <p:spPr>
          <a:xfrm>
            <a:off x="1005840" y="214884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companies</a:t>
            </a:r>
            <a:endParaRPr lang="en-US" sz="1800" dirty="0"/>
          </a:p>
        </p:txBody>
      </p:sp>
      <p:sp>
        <p:nvSpPr>
          <p:cNvPr id="6" name="Table count 1"/>
          <p:cNvSpPr txBox="1"/>
          <p:nvPr/>
        </p:nvSpPr>
        <p:spPr>
          <a:xfrm>
            <a:off x="1005840" y="274320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1,189</a:t>
            </a:r>
            <a:endParaRPr lang="en-US" sz="3600" dirty="0"/>
          </a:p>
        </p:txBody>
      </p:sp>
      <p:sp>
        <p:nvSpPr>
          <p:cNvPr id="7" name="Table text 1"/>
          <p:cNvSpPr txBox="1"/>
          <p:nvPr/>
        </p:nvSpPr>
        <p:spPr>
          <a:xfrm>
            <a:off x="1005840" y="3566160"/>
            <a:ext cx="2052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unique employers</a:t>
            </a:r>
            <a:endParaRPr lang="en-US" sz="1400" dirty="0"/>
          </a:p>
        </p:txBody>
      </p:sp>
      <p:sp>
        <p:nvSpPr>
          <p:cNvPr id="8" name="Table card 2"/>
          <p:cNvSpPr/>
          <p:nvPr/>
        </p:nvSpPr>
        <p:spPr>
          <a:xfrm>
            <a:off x="3470148" y="1828800"/>
            <a:ext cx="2510028" cy="2743200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/>
        </p:spPr>
      </p:sp>
      <p:sp>
        <p:nvSpPr>
          <p:cNvPr id="9" name="Table name 2"/>
          <p:cNvSpPr txBox="1"/>
          <p:nvPr/>
        </p:nvSpPr>
        <p:spPr>
          <a:xfrm>
            <a:off x="3744468" y="214884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jobs_normalized</a:t>
            </a:r>
            <a:endParaRPr lang="en-US" sz="1800" dirty="0"/>
          </a:p>
        </p:txBody>
      </p:sp>
      <p:sp>
        <p:nvSpPr>
          <p:cNvPr id="10" name="Table count 2"/>
          <p:cNvSpPr txBox="1"/>
          <p:nvPr/>
        </p:nvSpPr>
        <p:spPr>
          <a:xfrm>
            <a:off x="3744468" y="274320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3,180</a:t>
            </a:r>
            <a:endParaRPr lang="en-US" sz="3600" dirty="0"/>
          </a:p>
        </p:txBody>
      </p:sp>
      <p:sp>
        <p:nvSpPr>
          <p:cNvPr id="11" name="Table text 2"/>
          <p:cNvSpPr txBox="1"/>
          <p:nvPr/>
        </p:nvSpPr>
        <p:spPr>
          <a:xfrm>
            <a:off x="3744468" y="3566160"/>
            <a:ext cx="2052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UK postings, linked to companies</a:t>
            </a:r>
            <a:endParaRPr lang="en-US" sz="1400" dirty="0"/>
          </a:p>
        </p:txBody>
      </p:sp>
      <p:sp>
        <p:nvSpPr>
          <p:cNvPr id="12" name="Table card 3"/>
          <p:cNvSpPr/>
          <p:nvPr/>
        </p:nvSpPr>
        <p:spPr>
          <a:xfrm>
            <a:off x="6208776" y="1828800"/>
            <a:ext cx="2510028" cy="2743200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/>
        </p:spPr>
      </p:sp>
      <p:sp>
        <p:nvSpPr>
          <p:cNvPr id="13" name="Table name 3"/>
          <p:cNvSpPr txBox="1"/>
          <p:nvPr/>
        </p:nvSpPr>
        <p:spPr>
          <a:xfrm>
            <a:off x="6483096" y="214884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skills</a:t>
            </a:r>
            <a:endParaRPr lang="en-US" sz="1800" dirty="0"/>
          </a:p>
        </p:txBody>
      </p:sp>
      <p:sp>
        <p:nvSpPr>
          <p:cNvPr id="14" name="Table count 3"/>
          <p:cNvSpPr txBox="1"/>
          <p:nvPr/>
        </p:nvSpPr>
        <p:spPr>
          <a:xfrm>
            <a:off x="6483096" y="274320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</a:t>
            </a:r>
            <a:endParaRPr lang="en-US" sz="3600" dirty="0"/>
          </a:p>
        </p:txBody>
      </p:sp>
      <p:sp>
        <p:nvSpPr>
          <p:cNvPr id="15" name="Table text 3"/>
          <p:cNvSpPr txBox="1"/>
          <p:nvPr/>
        </p:nvSpPr>
        <p:spPr>
          <a:xfrm>
            <a:off x="6483096" y="3566160"/>
            <a:ext cx="2052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tracked technical skills</a:t>
            </a:r>
            <a:endParaRPr lang="en-US" sz="1400" dirty="0"/>
          </a:p>
        </p:txBody>
      </p:sp>
      <p:sp>
        <p:nvSpPr>
          <p:cNvPr id="16" name="Table card 4"/>
          <p:cNvSpPr/>
          <p:nvPr/>
        </p:nvSpPr>
        <p:spPr>
          <a:xfrm>
            <a:off x="8947404" y="1828800"/>
            <a:ext cx="2510028" cy="2743200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/>
        </p:spPr>
      </p:sp>
      <p:sp>
        <p:nvSpPr>
          <p:cNvPr id="17" name="Table name 4"/>
          <p:cNvSpPr txBox="1"/>
          <p:nvPr/>
        </p:nvSpPr>
        <p:spPr>
          <a:xfrm>
            <a:off x="9221724" y="214884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job_skills</a:t>
            </a:r>
            <a:endParaRPr lang="en-US" sz="1800" dirty="0"/>
          </a:p>
        </p:txBody>
      </p:sp>
      <p:sp>
        <p:nvSpPr>
          <p:cNvPr id="18" name="Table count 4"/>
          <p:cNvSpPr txBox="1"/>
          <p:nvPr/>
        </p:nvSpPr>
        <p:spPr>
          <a:xfrm>
            <a:off x="9221724" y="274320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1,361</a:t>
            </a:r>
            <a:endParaRPr lang="en-US" sz="3600" dirty="0"/>
          </a:p>
        </p:txBody>
      </p:sp>
      <p:sp>
        <p:nvSpPr>
          <p:cNvPr id="19" name="Table text 4"/>
          <p:cNvSpPr txBox="1"/>
          <p:nvPr/>
        </p:nvSpPr>
        <p:spPr>
          <a:xfrm>
            <a:off x="9221724" y="3566160"/>
            <a:ext cx="2052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job–skill links (many-to-many)</a:t>
            </a:r>
            <a:endParaRPr lang="en-US" sz="1400" dirty="0"/>
          </a:p>
        </p:txBody>
      </p:sp>
      <p:sp>
        <p:nvSpPr>
          <p:cNvPr id="20" name="Relationships"/>
          <p:cNvSpPr txBox="1"/>
          <p:nvPr/>
        </p:nvSpPr>
        <p:spPr>
          <a:xfrm>
            <a:off x="731520" y="49834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companies  1:N  jobs_normalized  ·  jobs_normalized  N:N  skills  (through job_skills)</a:t>
            </a:r>
            <a:endParaRPr lang="en-US" sz="1600" dirty="0"/>
          </a:p>
        </p:txBody>
      </p:sp>
      <p:sp>
        <p:nvSpPr>
          <p:cNvPr id="21" name="Database footnote"/>
          <p:cNvSpPr txBox="1"/>
          <p:nvPr/>
        </p:nvSpPr>
        <p:spPr>
          <a:xfrm>
            <a:off x="731520" y="54864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Built with SQLAlchemy and pyodbc on Microsoft SQL Server; rebuilt from the master dataset by one script.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An interactive dashboard on real data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Filterable by job family, location, and contract type.</a:t>
            </a:r>
            <a:endParaRPr lang="en-US" sz="1400" dirty="0"/>
          </a:p>
        </p:txBody>
      </p:sp>
      <p:sp>
        <p:nvSpPr>
          <p:cNvPr id="4" name="Feature dot 1"/>
          <p:cNvSpPr/>
          <p:nvPr/>
        </p:nvSpPr>
        <p:spPr>
          <a:xfrm>
            <a:off x="731520" y="192024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Feature 1"/>
          <p:cNvSpPr txBox="1"/>
          <p:nvPr/>
        </p:nvSpPr>
        <p:spPr>
          <a:xfrm>
            <a:off x="1143000" y="1828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Overview: total jobs, companies, skills, average salary</a:t>
            </a:r>
            <a:endParaRPr lang="en-US" sz="1600" dirty="0"/>
          </a:p>
        </p:txBody>
      </p:sp>
      <p:sp>
        <p:nvSpPr>
          <p:cNvPr id="6" name="Feature dot 2"/>
          <p:cNvSpPr/>
          <p:nvPr/>
        </p:nvSpPr>
        <p:spPr>
          <a:xfrm>
            <a:off x="731520" y="263347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Feature 2"/>
          <p:cNvSpPr txBox="1"/>
          <p:nvPr/>
        </p:nvSpPr>
        <p:spPr>
          <a:xfrm>
            <a:off x="1143000" y="25420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Top skills, overall and per job family</a:t>
            </a:r>
            <a:endParaRPr lang="en-US" sz="1600" dirty="0"/>
          </a:p>
        </p:txBody>
      </p:sp>
      <p:sp>
        <p:nvSpPr>
          <p:cNvPr id="8" name="Feature dot 3"/>
          <p:cNvSpPr/>
          <p:nvPr/>
        </p:nvSpPr>
        <p:spPr>
          <a:xfrm>
            <a:off x="731520" y="3346704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Feature 3"/>
          <p:cNvSpPr txBox="1"/>
          <p:nvPr/>
        </p:nvSpPr>
        <p:spPr>
          <a:xfrm>
            <a:off x="1143000" y="325526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Salary distribution by job family and contract type</a:t>
            </a:r>
            <a:endParaRPr lang="en-US" sz="1600" dirty="0"/>
          </a:p>
        </p:txBody>
      </p:sp>
      <p:sp>
        <p:nvSpPr>
          <p:cNvPr id="10" name="Feature dot 4"/>
          <p:cNvSpPr/>
          <p:nvPr/>
        </p:nvSpPr>
        <p:spPr>
          <a:xfrm>
            <a:off x="731520" y="405993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Feature 4"/>
          <p:cNvSpPr txBox="1"/>
          <p:nvPr/>
        </p:nvSpPr>
        <p:spPr>
          <a:xfrm>
            <a:off x="1143000" y="396849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Top hiring companies and locations</a:t>
            </a:r>
            <a:endParaRPr lang="en-US" sz="1600" dirty="0"/>
          </a:p>
        </p:txBody>
      </p:sp>
      <p:sp>
        <p:nvSpPr>
          <p:cNvPr id="12" name="Feature dot 5"/>
          <p:cNvSpPr/>
          <p:nvPr/>
        </p:nvSpPr>
        <p:spPr>
          <a:xfrm>
            <a:off x="731520" y="4773168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Feature 5"/>
          <p:cNvSpPr txBox="1"/>
          <p:nvPr/>
        </p:nvSpPr>
        <p:spPr>
          <a:xfrm>
            <a:off x="1143000" y="46817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Skill co-occurrence and job-family comparison</a:t>
            </a:r>
            <a:endParaRPr lang="en-US" sz="1600" dirty="0"/>
          </a:p>
        </p:txBody>
      </p:sp>
      <p:sp>
        <p:nvSpPr>
          <p:cNvPr id="14" name="Feature dot 6"/>
          <p:cNvSpPr/>
          <p:nvPr/>
        </p:nvSpPr>
        <p:spPr>
          <a:xfrm>
            <a:off x="731520" y="548640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Feature 6"/>
          <p:cNvSpPr txBox="1"/>
          <p:nvPr/>
        </p:nvSpPr>
        <p:spPr>
          <a:xfrm>
            <a:off x="1143000" y="53949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Searchable, sortable job table with links to apply</a:t>
            </a:r>
            <a:endParaRPr lang="en-US" sz="1600" dirty="0"/>
          </a:p>
        </p:txBody>
      </p:sp>
      <p:sp>
        <p:nvSpPr>
          <p:cNvPr id="16" name="Dashboard note card"/>
          <p:cNvSpPr/>
          <p:nvPr/>
        </p:nvSpPr>
        <p:spPr>
          <a:xfrm>
            <a:off x="8229600" y="1828800"/>
            <a:ext cx="3227832" cy="4206240"/>
          </a:xfrm>
          <a:prstGeom prst="roundRect">
            <a:avLst>
              <a:gd name="adj" fmla="val 3399"/>
            </a:avLst>
          </a:prstGeom>
          <a:solidFill>
            <a:schemeClr val="accent5"/>
          </a:solidFill>
          <a:ln/>
        </p:spPr>
      </p:sp>
      <p:sp>
        <p:nvSpPr>
          <p:cNvPr id="17" name="Note heading"/>
          <p:cNvSpPr txBox="1"/>
          <p:nvPr/>
        </p:nvSpPr>
        <p:spPr>
          <a:xfrm>
            <a:off x="850392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Live on the real dataset</a:t>
            </a:r>
            <a:endParaRPr lang="en-US" sz="1800" dirty="0"/>
          </a:p>
        </p:txBody>
      </p:sp>
      <p:sp>
        <p:nvSpPr>
          <p:cNvPr id="18" name="Note text"/>
          <p:cNvSpPr txBox="1"/>
          <p:nvPr/>
        </p:nvSpPr>
        <p:spPr>
          <a:xfrm>
            <a:off x="8503920" y="2926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Every chart is computed from the exported CSV. Upload a newer file and all numbers update.</a:t>
            </a:r>
            <a:endParaRPr lang="en-US" sz="1400" dirty="0"/>
          </a:p>
        </p:txBody>
      </p:sp>
      <p:sp>
        <p:nvSpPr>
          <p:cNvPr id="19" name="Note text 2"/>
          <p:cNvSpPr txBox="1"/>
          <p:nvPr/>
        </p:nvSpPr>
        <p:spPr>
          <a:xfrm>
            <a:off x="8503920" y="4572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Includes the Job Matcher, with direct links to the original postings.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Predicting the job family</a:t>
            </a:r>
            <a:endParaRPr lang="en-US" sz="3600" dirty="0"/>
          </a:p>
        </p:txBody>
      </p:sp>
      <p:sp>
        <p:nvSpPr>
          <p:cNvPr id="3" name="Model intro"/>
          <p:cNvSpPr txBox="1"/>
          <p:nvPr/>
        </p:nvSpPr>
        <p:spPr>
          <a:xfrm>
            <a:off x="731520" y="137160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A TF-IDF + LinearSVC classifier reads only the description text and predicts one of 16 job families. Repeated adverts are counted once, so the score is not inflated.</a:t>
            </a:r>
            <a:endParaRPr lang="en-US" sz="1600" dirty="0"/>
          </a:p>
        </p:txBody>
      </p:sp>
      <p:sp>
        <p:nvSpPr>
          <p:cNvPr id="4" name="Accuracy card"/>
          <p:cNvSpPr/>
          <p:nvPr/>
        </p:nvSpPr>
        <p:spPr>
          <a:xfrm>
            <a:off x="7315200" y="1371600"/>
            <a:ext cx="4142232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sp>
        <p:nvSpPr>
          <p:cNvPr id="5" name="Accuracy value"/>
          <p:cNvSpPr txBox="1"/>
          <p:nvPr/>
        </p:nvSpPr>
        <p:spPr>
          <a:xfrm>
            <a:off x="763524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76.3%</a:t>
            </a:r>
            <a:endParaRPr lang="en-US" sz="5400" dirty="0"/>
          </a:p>
        </p:txBody>
      </p:sp>
      <p:sp>
        <p:nvSpPr>
          <p:cNvPr id="6" name="Accuracy label"/>
          <p:cNvSpPr txBox="1"/>
          <p:nvPr/>
        </p:nvSpPr>
        <p:spPr>
          <a:xfrm>
            <a:off x="7635240" y="2697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± 2.1%  ·  5-fold cross-validation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2,684 unique postings, 16 classes</a:t>
            </a:r>
            <a:endParaRPr lang="en-US" sz="1400" dirty="0"/>
          </a:p>
        </p:txBody>
      </p:sp>
      <p:sp>
        <p:nvSpPr>
          <p:cNvPr id="7" name="Result row 1"/>
          <p:cNvSpPr/>
          <p:nvPr/>
        </p:nvSpPr>
        <p:spPr>
          <a:xfrm>
            <a:off x="731520" y="4023360"/>
            <a:ext cx="1072591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8" name="Result label 1"/>
          <p:cNvSpPr txBox="1"/>
          <p:nvPr/>
        </p:nvSpPr>
        <p:spPr>
          <a:xfrm>
            <a:off x="1005840" y="40233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Strongest</a:t>
            </a:r>
            <a:endParaRPr lang="en-US" sz="1400" dirty="0"/>
          </a:p>
        </p:txBody>
      </p:sp>
      <p:sp>
        <p:nvSpPr>
          <p:cNvPr id="9" name="Result text 1"/>
          <p:cNvSpPr txBox="1"/>
          <p:nvPr/>
        </p:nvSpPr>
        <p:spPr>
          <a:xfrm>
            <a:off x="3291840" y="4023360"/>
            <a:ext cx="7891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Data Architect, Business Analyst, BI Analyst, Cloud Engineer (F1 0.86–0.94)</a:t>
            </a:r>
            <a:endParaRPr lang="en-US" sz="1400" dirty="0"/>
          </a:p>
        </p:txBody>
      </p:sp>
      <p:sp>
        <p:nvSpPr>
          <p:cNvPr id="10" name="Result row 2"/>
          <p:cNvSpPr/>
          <p:nvPr/>
        </p:nvSpPr>
        <p:spPr>
          <a:xfrm>
            <a:off x="731520" y="4809744"/>
            <a:ext cx="1072591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1" name="Result label 2"/>
          <p:cNvSpPr txBox="1"/>
          <p:nvPr/>
        </p:nvSpPr>
        <p:spPr>
          <a:xfrm>
            <a:off x="1005840" y="48097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Hardest</a:t>
            </a:r>
            <a:endParaRPr lang="en-US" sz="1400" dirty="0"/>
          </a:p>
        </p:txBody>
      </p:sp>
      <p:sp>
        <p:nvSpPr>
          <p:cNvPr id="12" name="Result text 2"/>
          <p:cNvSpPr txBox="1"/>
          <p:nvPr/>
        </p:nvSpPr>
        <p:spPr>
          <a:xfrm>
            <a:off x="3291840" y="4809744"/>
            <a:ext cx="7891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Analytics Engineer, Data Scientist, Frontend and Backend (F1 0.62–0.65)</a:t>
            </a:r>
            <a:endParaRPr lang="en-US" sz="1400" dirty="0"/>
          </a:p>
        </p:txBody>
      </p:sp>
      <p:sp>
        <p:nvSpPr>
          <p:cNvPr id="13" name="Result row 3"/>
          <p:cNvSpPr/>
          <p:nvPr/>
        </p:nvSpPr>
        <p:spPr>
          <a:xfrm>
            <a:off x="731520" y="5596128"/>
            <a:ext cx="1072591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4" name="Result label 3"/>
          <p:cNvSpPr txBox="1"/>
          <p:nvPr/>
        </p:nvSpPr>
        <p:spPr>
          <a:xfrm>
            <a:off x="1005840" y="55961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Chance level</a:t>
            </a:r>
            <a:endParaRPr lang="en-US" sz="1400" dirty="0"/>
          </a:p>
        </p:txBody>
      </p:sp>
      <p:sp>
        <p:nvSpPr>
          <p:cNvPr id="15" name="Result text 3"/>
          <p:cNvSpPr txBox="1"/>
          <p:nvPr/>
        </p:nvSpPr>
        <p:spPr>
          <a:xfrm>
            <a:off x="3291840" y="5596128"/>
            <a:ext cx="7891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Guessing among 16 families would score only about 6–9%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Tuning, measured fairly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5-fold cross-validated accuracy for seven model configurations</a:t>
            </a:r>
            <a:endParaRPr lang="en-US" sz="1400" dirty="0"/>
          </a:p>
        </p:txBody>
      </p:sp>
      <p:graphicFrame>
        <p:nvGraphicFramePr>
          <p:cNvPr id="4" name="Tuning chart" descr=""/>
          <p:cNvGraphicFramePr/>
          <p:nvPr/>
        </p:nvGraphicFramePr>
        <p:xfrm>
          <a:off x="731520" y="173736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uning card"/>
          <p:cNvSpPr/>
          <p:nvPr/>
        </p:nvSpPr>
        <p:spPr>
          <a:xfrm>
            <a:off x="8229600" y="1737360"/>
            <a:ext cx="3227832" cy="4480560"/>
          </a:xfrm>
          <a:prstGeom prst="roundRect">
            <a:avLst>
              <a:gd name="adj" fmla="val 3399"/>
            </a:avLst>
          </a:prstGeom>
          <a:solidFill>
            <a:schemeClr val="tx2"/>
          </a:solidFill>
          <a:ln/>
        </p:spPr>
      </p:sp>
      <p:sp>
        <p:nvSpPr>
          <p:cNvPr id="6" name="Gain description"/>
          <p:cNvSpPr txBox="1"/>
          <p:nvPr/>
        </p:nvSpPr>
        <p:spPr>
          <a:xfrm>
            <a:off x="850392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+3.5 pts</a:t>
            </a:r>
            <a:endParaRPr lang="en-US" sz="3600" dirty="0"/>
          </a:p>
        </p:txBody>
      </p:sp>
      <p:sp>
        <p:nvSpPr>
          <p:cNvPr id="7" name="Gain description text"/>
          <p:cNvSpPr txBox="1"/>
          <p:nvPr/>
        </p:nvSpPr>
        <p:spPr>
          <a:xfrm>
            <a:off x="850392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from tuning, using the description alone.</a:t>
            </a:r>
            <a:endParaRPr lang="en-US" sz="1400" dirty="0"/>
          </a:p>
        </p:txBody>
      </p:sp>
      <p:sp>
        <p:nvSpPr>
          <p:cNvPr id="8" name="Gain title"/>
          <p:cNvSpPr txBox="1"/>
          <p:nvPr/>
        </p:nvSpPr>
        <p:spPr>
          <a:xfrm>
            <a:off x="850392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+16 pts</a:t>
            </a:r>
            <a:endParaRPr lang="en-US" sz="3600" dirty="0"/>
          </a:p>
        </p:txBody>
      </p:sp>
      <p:sp>
        <p:nvSpPr>
          <p:cNvPr id="9" name="Gain title text"/>
          <p:cNvSpPr txBox="1"/>
          <p:nvPr/>
        </p:nvSpPr>
        <p:spPr>
          <a:xfrm>
            <a:off x="8503920" y="43891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when the job title is added — an easier question, since the title holds the search words. The main model stays description-only.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insight to action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Job Matcher scores every real posting against the skills a user enters.</a:t>
            </a:r>
            <a:endParaRPr lang="en-US" sz="1400" dirty="0"/>
          </a:p>
        </p:txBody>
      </p:sp>
      <p:sp>
        <p:nvSpPr>
          <p:cNvPr id="4" name="Matcher badge 1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Matcher badge 1 label"/>
          <p:cNvSpPr txBox="1"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Matcher step 1"/>
          <p:cNvSpPr txBox="1"/>
          <p:nvPr/>
        </p:nvSpPr>
        <p:spPr>
          <a:xfrm>
            <a:off x="1554480" y="1810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Enter your skills</a:t>
            </a:r>
            <a:endParaRPr lang="en-US" sz="1800" dirty="0"/>
          </a:p>
        </p:txBody>
      </p:sp>
      <p:sp>
        <p:nvSpPr>
          <p:cNvPr id="7" name="Matcher text 1"/>
          <p:cNvSpPr txBox="1"/>
          <p:nvPr/>
        </p:nvSpPr>
        <p:spPr>
          <a:xfrm>
            <a:off x="1554480" y="22128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Pick from the skills the platform tracks.</a:t>
            </a:r>
            <a:endParaRPr lang="en-US" sz="1400" dirty="0"/>
          </a:p>
        </p:txBody>
      </p:sp>
      <p:sp>
        <p:nvSpPr>
          <p:cNvPr id="8" name="Matcher badge 2"/>
          <p:cNvSpPr/>
          <p:nvPr/>
        </p:nvSpPr>
        <p:spPr>
          <a:xfrm>
            <a:off x="731520" y="290779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Matcher badge 2 label"/>
          <p:cNvSpPr txBox="1"/>
          <p:nvPr/>
        </p:nvSpPr>
        <p:spPr>
          <a:xfrm>
            <a:off x="731520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Matcher step 2"/>
          <p:cNvSpPr txBox="1"/>
          <p:nvPr/>
        </p:nvSpPr>
        <p:spPr>
          <a:xfrm>
            <a:off x="1554480" y="28895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Score every job</a:t>
            </a:r>
            <a:endParaRPr lang="en-US" sz="1800" dirty="0"/>
          </a:p>
        </p:txBody>
      </p:sp>
      <p:sp>
        <p:nvSpPr>
          <p:cNvPr id="11" name="Matcher text 2"/>
          <p:cNvSpPr txBox="1"/>
          <p:nvPr/>
        </p:nvSpPr>
        <p:spPr>
          <a:xfrm>
            <a:off x="1554480" y="3291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Coverage of the job's skills × 0.5, plus share of your skills used × 0.5.</a:t>
            </a:r>
            <a:endParaRPr lang="en-US" sz="1400" dirty="0"/>
          </a:p>
        </p:txBody>
      </p:sp>
      <p:sp>
        <p:nvSpPr>
          <p:cNvPr id="12" name="Matcher badge 3"/>
          <p:cNvSpPr/>
          <p:nvPr/>
        </p:nvSpPr>
        <p:spPr>
          <a:xfrm>
            <a:off x="731520" y="398678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Matcher badge 3 label"/>
          <p:cNvSpPr txBox="1"/>
          <p:nvPr/>
        </p:nvSpPr>
        <p:spPr>
          <a:xfrm>
            <a:off x="731520" y="3986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Matcher step 3"/>
          <p:cNvSpPr txBox="1"/>
          <p:nvPr/>
        </p:nvSpPr>
        <p:spPr>
          <a:xfrm>
            <a:off x="1554480" y="39684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Rank the best fits</a:t>
            </a:r>
            <a:endParaRPr lang="en-US" sz="1800" dirty="0"/>
          </a:p>
        </p:txBody>
      </p:sp>
      <p:sp>
        <p:nvSpPr>
          <p:cNvPr id="15" name="Matcher text 3"/>
          <p:cNvSpPr txBox="1"/>
          <p:nvPr/>
        </p:nvSpPr>
        <p:spPr>
          <a:xfrm>
            <a:off x="1554480" y="43708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Top matches, with matched skills shown.</a:t>
            </a:r>
            <a:endParaRPr lang="en-US" sz="1400" dirty="0"/>
          </a:p>
        </p:txBody>
      </p:sp>
      <p:sp>
        <p:nvSpPr>
          <p:cNvPr id="16" name="Matcher badge 4"/>
          <p:cNvSpPr/>
          <p:nvPr/>
        </p:nvSpPr>
        <p:spPr>
          <a:xfrm>
            <a:off x="731520" y="50657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Matcher badge 4 label"/>
          <p:cNvSpPr txBox="1"/>
          <p:nvPr/>
        </p:nvSpPr>
        <p:spPr>
          <a:xfrm>
            <a:off x="731520" y="5065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Matcher step 4"/>
          <p:cNvSpPr txBox="1"/>
          <p:nvPr/>
        </p:nvSpPr>
        <p:spPr>
          <a:xfrm>
            <a:off x="1554480" y="50474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Apply directly</a:t>
            </a:r>
            <a:endParaRPr lang="en-US" sz="1800" dirty="0"/>
          </a:p>
        </p:txBody>
      </p:sp>
      <p:sp>
        <p:nvSpPr>
          <p:cNvPr id="19" name="Matcher text 4"/>
          <p:cNvSpPr txBox="1"/>
          <p:nvPr/>
        </p:nvSpPr>
        <p:spPr>
          <a:xfrm>
            <a:off x="1554480" y="54498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One click to the original posting.</a:t>
            </a:r>
            <a:endParaRPr lang="en-US" sz="1400" dirty="0"/>
          </a:p>
        </p:txBody>
      </p:sp>
      <p:sp>
        <p:nvSpPr>
          <p:cNvPr id="20" name="Example card"/>
          <p:cNvSpPr/>
          <p:nvPr/>
        </p:nvSpPr>
        <p:spPr>
          <a:xfrm>
            <a:off x="7040880" y="1783080"/>
            <a:ext cx="4416552" cy="4434840"/>
          </a:xfrm>
          <a:prstGeom prst="roundRect">
            <a:avLst>
              <a:gd name="adj" fmla="val 2484"/>
            </a:avLst>
          </a:prstGeom>
          <a:solidFill>
            <a:schemeClr val="bg2"/>
          </a:solidFill>
          <a:ln/>
        </p:spPr>
      </p:sp>
      <p:sp>
        <p:nvSpPr>
          <p:cNvPr id="21" name="Example kicker"/>
          <p:cNvSpPr txBox="1"/>
          <p:nvPr/>
        </p:nvSpPr>
        <p:spPr>
          <a:xfrm>
            <a:off x="736092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EXAMPLE FROM THE REAL DATA</a:t>
            </a:r>
            <a:endParaRPr lang="en-US" sz="1200" dirty="0"/>
          </a:p>
        </p:txBody>
      </p:sp>
      <p:sp>
        <p:nvSpPr>
          <p:cNvPr id="22" name="Example label 1"/>
          <p:cNvSpPr txBox="1"/>
          <p:nvPr/>
        </p:nvSpPr>
        <p:spPr>
          <a:xfrm>
            <a:off x="736092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You enter</a:t>
            </a:r>
            <a:endParaRPr lang="en-US" sz="1400" dirty="0"/>
          </a:p>
        </p:txBody>
      </p:sp>
      <p:sp>
        <p:nvSpPr>
          <p:cNvPr id="23" name="Example input"/>
          <p:cNvSpPr txBox="1"/>
          <p:nvPr/>
        </p:nvSpPr>
        <p:spPr>
          <a:xfrm>
            <a:off x="736092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· SQL · Power BI · Excel</a:t>
            </a:r>
            <a:endParaRPr lang="en-US" sz="1800" dirty="0"/>
          </a:p>
        </p:txBody>
      </p:sp>
      <p:sp>
        <p:nvSpPr>
          <p:cNvPr id="24" name="Example label 2"/>
          <p:cNvSpPr txBox="1"/>
          <p:nvPr/>
        </p:nvSpPr>
        <p:spPr>
          <a:xfrm>
            <a:off x="736092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Best match</a:t>
            </a:r>
            <a:endParaRPr lang="en-US" sz="1400" dirty="0"/>
          </a:p>
        </p:txBody>
      </p:sp>
      <p:sp>
        <p:nvSpPr>
          <p:cNvPr id="25" name="Example job"/>
          <p:cNvSpPr txBox="1"/>
          <p:nvPr/>
        </p:nvSpPr>
        <p:spPr>
          <a:xfrm>
            <a:off x="736092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H&amp;H Performance Analyst</a:t>
            </a:r>
            <a:endParaRPr lang="en-US" sz="2000" dirty="0"/>
          </a:p>
        </p:txBody>
      </p:sp>
      <p:sp>
        <p:nvSpPr>
          <p:cNvPr id="26" name="Example details"/>
          <p:cNvSpPr txBox="1"/>
          <p:nvPr/>
        </p:nvSpPr>
        <p:spPr>
          <a:xfrm>
            <a:off x="7360920" y="4343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Civic Recruitment Limited · Nuneaton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£38,556</a:t>
            </a:r>
            <a:endParaRPr lang="en-US" sz="1400" dirty="0"/>
          </a:p>
        </p:txBody>
      </p:sp>
      <p:sp>
        <p:nvSpPr>
          <p:cNvPr id="27" name="Example score"/>
          <p:cNvSpPr txBox="1"/>
          <p:nvPr/>
        </p:nvSpPr>
        <p:spPr>
          <a:xfrm>
            <a:off x="7360920" y="5166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of 4 skills matched · score 0.875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Honest limits, clear next steps</a:t>
            </a:r>
            <a:endParaRPr lang="en-US" sz="3600" dirty="0"/>
          </a:p>
        </p:txBody>
      </p:sp>
      <p:sp>
        <p:nvSpPr>
          <p:cNvPr id="3" name="Limits card"/>
          <p:cNvSpPr/>
          <p:nvPr/>
        </p:nvSpPr>
        <p:spPr>
          <a:xfrm>
            <a:off x="731520" y="1463040"/>
            <a:ext cx="521208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Limits heading"/>
          <p:cNvSpPr txBox="1"/>
          <p:nvPr/>
        </p:nvSpPr>
        <p:spPr>
          <a:xfrm>
            <a:off x="109728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Current limitations</a:t>
            </a:r>
            <a:endParaRPr lang="en-US" sz="2000" dirty="0"/>
          </a:p>
        </p:txBody>
      </p:sp>
      <p:sp>
        <p:nvSpPr>
          <p:cNvPr id="5" name="Limits list"/>
          <p:cNvSpPr txBox="1"/>
          <p:nvPr/>
        </p:nvSpPr>
        <p:spPr>
          <a:xfrm>
            <a:off x="1097280" y="23774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Adzuna returns a description snippet, so only 28% of postings mention a tracked skill</a:t>
            </a:r>
            <a:endParaRPr lang="en-US" sz="1400" dirty="0"/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Skills come from keyword matching, not a trained NLP model</a:t>
            </a:r>
            <a:endParaRPr lang="en-US" sz="1400" dirty="0"/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Salaries are advertised minimums in local currency; some may be Adzuna estimates</a:t>
            </a:r>
            <a:endParaRPr lang="en-US" sz="1400" dirty="0"/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Labels are the search keyword, not verified job titles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6245352" y="1463040"/>
            <a:ext cx="5212080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7" name="Next heading"/>
          <p:cNvSpPr txBox="1"/>
          <p:nvPr/>
        </p:nvSpPr>
        <p:spPr>
          <a:xfrm>
            <a:off x="6611112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Where this goes next</a:t>
            </a:r>
            <a:endParaRPr lang="en-US" sz="2000" dirty="0"/>
          </a:p>
        </p:txBody>
      </p:sp>
      <p:sp>
        <p:nvSpPr>
          <p:cNvPr id="8" name="Next list"/>
          <p:cNvSpPr txBox="1"/>
          <p:nvPr/>
        </p:nvSpPr>
        <p:spPr>
          <a:xfrm>
            <a:off x="6611112" y="23774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Trend analysis as the daily collection accumulates</a:t>
            </a:r>
            <a:endParaRPr lang="en-US" sz="1400" dirty="0"/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Fetch full job descriptions from permitted sources</a:t>
            </a:r>
            <a:endParaRPr lang="en-US" sz="1400" dirty="0"/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Train an entity-recognition model for skills</a:t>
            </a:r>
            <a:endParaRPr lang="en-US" sz="1400" dirty="0"/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Separate databases and models for the US, Canada, and Australia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73736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148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Questions and discussion</a:t>
            </a:r>
            <a:endParaRPr lang="en-US" sz="1800" dirty="0"/>
          </a:p>
        </p:txBody>
      </p:sp>
      <p:sp>
        <p:nvSpPr>
          <p:cNvPr id="5" name="Closing line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AI Job Market Intelligence Platform  ·  Adzuna API → SQL → Dashboard → ML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bMarketIntelligence">
  <a:themeElements>
    <a:clrScheme name="JobMarketIntelligence">
      <a:dk1>
        <a:srgbClr val="1A1A2E"/>
      </a:dk1>
      <a:lt1>
        <a:srgbClr val="FFFFFF"/>
      </a:lt1>
      <a:dk2>
        <a:srgbClr val="1E2761"/>
      </a:dk2>
      <a:lt2>
        <a:srgbClr val="F4F6FC"/>
      </a:lt2>
      <a:accent1>
        <a:srgbClr val="1E2761"/>
      </a:accent1>
      <a:accent2>
        <a:srgbClr val="F9A826"/>
      </a:accent2>
      <a:accent3>
        <a:srgbClr val="CADCFC"/>
      </a:accent3>
      <a:accent4>
        <a:srgbClr val="5B6178"/>
      </a:accent4>
      <a:accent5>
        <a:srgbClr val="141B4D"/>
      </a:accent5>
      <a:accent6>
        <a:srgbClr val="DDE2F0"/>
      </a:accent6>
      <a:hlink>
        <a:srgbClr val="1E2761"/>
      </a:hlink>
      <a:folHlink>
        <a:srgbClr val="5B6178"/>
      </a:folHlink>
    </a:clrScheme>
    <a:fontScheme name="JobMarketIntellig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Job Market Intelligence Platform</dc:title>
  <dc:subject>PptxGenJS Presentation</dc:subject>
  <dc:creator>Graduation Project</dc:creator>
  <cp:lastModifiedBy>Graduation Project</cp:lastModifiedBy>
  <cp:revision>1</cp:revision>
  <dcterms:created xsi:type="dcterms:W3CDTF">2026-10-11T18:55:43Z</dcterms:created>
  <dcterms:modified xsi:type="dcterms:W3CDTF">2026-10-11T18:55:43Z</dcterms:modified>
</cp:coreProperties>
</file>